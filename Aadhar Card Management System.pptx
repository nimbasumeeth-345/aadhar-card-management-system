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05" r:id="rId5"/>
    <p:sldId id="296" r:id="rId6"/>
    <p:sldId id="306" r:id="rId7"/>
    <p:sldId id="259" r:id="rId8"/>
    <p:sldId id="317" r:id="rId9"/>
    <p:sldId id="318" r:id="rId10"/>
    <p:sldId id="309" r:id="rId11"/>
    <p:sldId id="319" r:id="rId12"/>
    <p:sldId id="315" r:id="rId13"/>
    <p:sldId id="320" r:id="rId14"/>
    <p:sldId id="310" r:id="rId15"/>
    <p:sldId id="31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879" autoAdjust="0"/>
  </p:normalViewPr>
  <p:slideViewPr>
    <p:cSldViewPr snapToGrid="0">
      <p:cViewPr varScale="1">
        <p:scale>
          <a:sx n="111" d="100"/>
          <a:sy n="111" d="100"/>
        </p:scale>
        <p:origin x="3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4/8/2024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4/8/2024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32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plant&#10;&#10;Description automatically generated">
            <a:extLst>
              <a:ext uri="{FF2B5EF4-FFF2-40B4-BE49-F238E27FC236}">
                <a16:creationId xmlns:a16="http://schemas.microsoft.com/office/drawing/2014/main" id="{A26D6E84-B5BE-5F3E-8B3F-1A46C7F307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10" y="0"/>
            <a:ext cx="8392026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0A7E03F-5776-960D-3CA6-7CE62AC96693}"/>
              </a:ext>
            </a:extLst>
          </p:cNvPr>
          <p:cNvSpPr/>
          <p:nvPr userDrawn="1"/>
        </p:nvSpPr>
        <p:spPr>
          <a:xfrm>
            <a:off x="3300284" y="654912"/>
            <a:ext cx="5591432" cy="559143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7464AF-3FD6-6193-CC95-A941ECE17B9D}"/>
              </a:ext>
            </a:extLst>
          </p:cNvPr>
          <p:cNvCxnSpPr>
            <a:cxnSpLocks/>
          </p:cNvCxnSpPr>
          <p:nvPr userDrawn="1"/>
        </p:nvCxnSpPr>
        <p:spPr>
          <a:xfrm>
            <a:off x="4359876" y="4300155"/>
            <a:ext cx="347224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E5214731-3110-8D76-56DF-6335371041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61" y="4157464"/>
            <a:ext cx="972078" cy="285381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516369FF-9501-1944-3E3F-46CBFD515D8D}"/>
              </a:ext>
            </a:extLst>
          </p:cNvPr>
          <p:cNvSpPr/>
          <p:nvPr userDrawn="1"/>
        </p:nvSpPr>
        <p:spPr>
          <a:xfrm>
            <a:off x="3447535" y="807312"/>
            <a:ext cx="5296930" cy="529693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AB1576B0-66ED-3F92-2AF8-4EF965E4E3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38" y="4814449"/>
            <a:ext cx="1668775" cy="1621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576603-B88C-9F7F-98A5-E94BD2C23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777" y="1164252"/>
            <a:ext cx="818801" cy="845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9296" y="2660904"/>
            <a:ext cx="6693408" cy="1088136"/>
          </a:xfrm>
        </p:spPr>
        <p:txBody>
          <a:bodyPr anchor="b">
            <a:noAutofit/>
          </a:bodyPr>
          <a:lstStyle>
            <a:lvl1pPr algn="ctr"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6384" y="2267712"/>
            <a:ext cx="2999232" cy="4389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&#10;&#10;Description automatically generated">
            <a:extLst>
              <a:ext uri="{FF2B5EF4-FFF2-40B4-BE49-F238E27FC236}">
                <a16:creationId xmlns:a16="http://schemas.microsoft.com/office/drawing/2014/main" id="{ABAD6905-AD97-1EAF-A4A3-D0BB13B12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BCB4CA-03FB-81F4-F8A2-FA9C0DBDEB11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138EDBF7-FA56-2BF9-ECFA-6C39FEE8F8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9852" flipH="1">
            <a:off x="1760954" y="2048834"/>
            <a:ext cx="1230524" cy="22873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0" y="978408"/>
            <a:ext cx="37490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83880" y="2194560"/>
            <a:ext cx="3749040" cy="430682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0FE36A83-31CF-DF76-5708-55ED9FB707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5BF6365E-74A9-6D7B-5F20-7C29F290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5296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B4DE27-1913-8274-9943-46641EA0DAB7}"/>
              </a:ext>
            </a:extLst>
          </p:cNvPr>
          <p:cNvSpPr/>
          <p:nvPr userDrawn="1"/>
        </p:nvSpPr>
        <p:spPr>
          <a:xfrm>
            <a:off x="1174276" y="-756"/>
            <a:ext cx="9843449" cy="5690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01AB4A-AE17-BFA4-697C-75EC6407E147}"/>
              </a:ext>
            </a:extLst>
          </p:cNvPr>
          <p:cNvSpPr/>
          <p:nvPr userDrawn="1"/>
        </p:nvSpPr>
        <p:spPr>
          <a:xfrm>
            <a:off x="1604189" y="-13446"/>
            <a:ext cx="8983623" cy="52577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C7F01FE-99A8-35BD-05A1-6D93A2578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833" y="5110810"/>
            <a:ext cx="1207554" cy="354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6660DF-FD7A-4340-E854-B4680A6B88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02474" y="-1953000"/>
            <a:ext cx="14859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516" y="2651760"/>
            <a:ext cx="7744968" cy="269748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ctr">
              <a:lnSpc>
                <a:spcPct val="100000"/>
              </a:lnSpc>
              <a:defRPr sz="18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F05D25C-B703-1868-603E-D468EF44D7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8FDB2CC-A975-BC07-042A-228D387E51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6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ADFA29-47E3-2E16-12B7-D8031DC04C0D}"/>
              </a:ext>
            </a:extLst>
          </p:cNvPr>
          <p:cNvSpPr/>
          <p:nvPr userDrawn="1"/>
        </p:nvSpPr>
        <p:spPr>
          <a:xfrm>
            <a:off x="0" y="3377183"/>
            <a:ext cx="12192000" cy="2326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close up of a plant&#10;&#10;Description automatically generated with low confidence">
            <a:extLst>
              <a:ext uri="{FF2B5EF4-FFF2-40B4-BE49-F238E27FC236}">
                <a16:creationId xmlns:a16="http://schemas.microsoft.com/office/drawing/2014/main" id="{D373DB44-C887-96AC-D32D-B7656F28F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87322" y="3187511"/>
            <a:ext cx="1422400" cy="5283200"/>
          </a:xfrm>
          <a:prstGeom prst="rect">
            <a:avLst/>
          </a:prstGeom>
        </p:spPr>
      </p:pic>
      <p:pic>
        <p:nvPicPr>
          <p:cNvPr id="9" name="Picture 8" descr="A picture containing bedclothes, fabric&#10;&#10;Description automatically generated">
            <a:extLst>
              <a:ext uri="{FF2B5EF4-FFF2-40B4-BE49-F238E27FC236}">
                <a16:creationId xmlns:a16="http://schemas.microsoft.com/office/drawing/2014/main" id="{6A080FF9-A96B-AA38-428D-5F2CF533D0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00022" y="287485"/>
            <a:ext cx="1485900" cy="53721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5150280-02E2-686D-A130-65EBDA15EF13}"/>
              </a:ext>
            </a:extLst>
          </p:cNvPr>
          <p:cNvSpPr/>
          <p:nvPr userDrawn="1"/>
        </p:nvSpPr>
        <p:spPr>
          <a:xfrm>
            <a:off x="232651" y="3633264"/>
            <a:ext cx="11740896" cy="17897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pic>
        <p:nvPicPr>
          <p:cNvPr id="15" name="Picture 14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3DD4D68C-6665-333E-98E8-785116A05A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0193">
            <a:off x="6957396" y="5090392"/>
            <a:ext cx="856832" cy="832525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7E0939A-D971-0D79-9B6D-834913C959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79" y="3252854"/>
            <a:ext cx="1206427" cy="621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53668" y="3977640"/>
            <a:ext cx="9884664" cy="7315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153668" y="4700016"/>
            <a:ext cx="9884664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70832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7200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0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F45E1C-47F6-0AF9-7468-BA613D681E1D}"/>
              </a:ext>
            </a:extLst>
          </p:cNvPr>
          <p:cNvSpPr/>
          <p:nvPr userDrawn="1"/>
        </p:nvSpPr>
        <p:spPr>
          <a:xfrm>
            <a:off x="0" y="1533950"/>
            <a:ext cx="12192000" cy="379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abric&#10;&#10;Description automatically generated">
            <a:extLst>
              <a:ext uri="{FF2B5EF4-FFF2-40B4-BE49-F238E27FC236}">
                <a16:creationId xmlns:a16="http://schemas.microsoft.com/office/drawing/2014/main" id="{AB9E0D8B-7031-366D-884B-EB3FABD78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56236" y="-1772981"/>
            <a:ext cx="2147050" cy="603966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59314F-DCEF-A5A7-C5D9-F0D39AAC9FFA}"/>
              </a:ext>
            </a:extLst>
          </p:cNvPr>
          <p:cNvSpPr/>
          <p:nvPr userDrawn="1"/>
        </p:nvSpPr>
        <p:spPr>
          <a:xfrm>
            <a:off x="225552" y="1796143"/>
            <a:ext cx="11740896" cy="32657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DAAE5EB8-5B6B-6FA6-E6E7-D2F58FDF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07543" y="-287017"/>
            <a:ext cx="1051334" cy="3866771"/>
          </a:xfrm>
          <a:prstGeom prst="rect">
            <a:avLst/>
          </a:prstGeom>
        </p:spPr>
      </p:pic>
      <p:pic>
        <p:nvPicPr>
          <p:cNvPr id="19" name="Picture 18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BB1368FF-AA1B-4423-30B1-BE082E6F19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222" y="492338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456" y="2404872"/>
            <a:ext cx="8705088" cy="2002536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3454" y="3964517"/>
            <a:ext cx="8705089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5E2B84E-B4F2-ED93-8084-ECFC3B9C38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49667" y="3189069"/>
            <a:ext cx="945473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FDD82133-EB75-7E07-A9CE-730CB7F6CD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184" y="2136567"/>
            <a:ext cx="941832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17870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75868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6173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28309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28270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63663" y="3926721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799" y="4286611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280672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16065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8201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733074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66331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68467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68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68136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424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6424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B23EF08B-7D0C-7D96-413D-71C22E3F74D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68136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9">
            <a:extLst>
              <a:ext uri="{FF2B5EF4-FFF2-40B4-BE49-F238E27FC236}">
                <a16:creationId xmlns:a16="http://schemas.microsoft.com/office/drawing/2014/main" id="{A6866782-6675-4F37-E5D2-68CB0191C1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06424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9F53AB27-DDFA-AA5D-8253-546C9BBA9CE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06424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22675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39312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9312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DD9CE7E9-3BC2-0321-457B-61D363708B3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422675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70DD1941-A469-A457-B987-E0E2C300A8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9312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D6B84B7D-A7EC-6FE1-9925-F78AF0DE230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39312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77214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2200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A1AC2FE-336D-4E7F-2C86-6A8C29BA8F90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677214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FA370BF1-09EC-DBE1-5118-8A92A0F90BC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72200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5089D72C-E865-F5D3-CB1E-050AEF68445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72200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17533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05088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05088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17">
            <a:extLst>
              <a:ext uri="{FF2B5EF4-FFF2-40B4-BE49-F238E27FC236}">
                <a16:creationId xmlns:a16="http://schemas.microsoft.com/office/drawing/2014/main" id="{4F7ECA98-24CD-8CC5-A3EC-BFF5E9B11748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317533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46CBECF2-D93E-3DF9-064C-CB4A3262B69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5088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71E06E16-A083-B853-8155-7FF97AD1DE8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05088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B05881-FB11-43E8-CCDD-8C12CDB4FE47}"/>
              </a:ext>
            </a:extLst>
          </p:cNvPr>
          <p:cNvSpPr/>
          <p:nvPr userDrawn="1"/>
        </p:nvSpPr>
        <p:spPr>
          <a:xfrm>
            <a:off x="838199" y="196052"/>
            <a:ext cx="10515601" cy="1686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icture containing fabric&#10;&#10;Description automatically generated">
            <a:extLst>
              <a:ext uri="{FF2B5EF4-FFF2-40B4-BE49-F238E27FC236}">
                <a16:creationId xmlns:a16="http://schemas.microsoft.com/office/drawing/2014/main" id="{A4941BBB-13FC-2ACE-1A50-C0F465531B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14950" y="-64113"/>
            <a:ext cx="1562100" cy="4394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BE9E36-E9D5-3FA6-EE22-A6E5CE13C462}"/>
              </a:ext>
            </a:extLst>
          </p:cNvPr>
          <p:cNvSpPr/>
          <p:nvPr userDrawn="1"/>
        </p:nvSpPr>
        <p:spPr>
          <a:xfrm>
            <a:off x="995423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479E4054-0885-457B-35B3-A9B26ED936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69421" y="459092"/>
            <a:ext cx="749300" cy="2755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632"/>
            <a:ext cx="10515600" cy="1133856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0088"/>
            <a:ext cx="10515600" cy="347472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6C79F3B-6B68-BA3C-6CBE-C26E339E45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D503431-982D-5D35-88BF-09474F76D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44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68407D-A1C4-B842-0C34-B2DE8AD312D3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AE7FB-DFC0-DCDA-47AD-6ED81A6427FA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7A4DFCBA-879E-D6C9-9F81-B4F9225423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62BF3-1BFC-6948-02E0-8A1C121C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8D7F8-0920-52BA-580D-0724912287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11EB-89A4-4C55-4032-4D0C418398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963F99-41C3-5ED4-AAD8-B904145CC7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5360" y="2615184"/>
            <a:ext cx="10241280" cy="3319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034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7EB7A-F5B6-E308-68EE-3065E2B039A6}"/>
              </a:ext>
            </a:extLst>
          </p:cNvPr>
          <p:cNvSpPr/>
          <p:nvPr userDrawn="1"/>
        </p:nvSpPr>
        <p:spPr>
          <a:xfrm>
            <a:off x="0" y="0"/>
            <a:ext cx="4873752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close-up of a tree&#10;&#10;Description automatically generated with medium confidence">
            <a:extLst>
              <a:ext uri="{FF2B5EF4-FFF2-40B4-BE49-F238E27FC236}">
                <a16:creationId xmlns:a16="http://schemas.microsoft.com/office/drawing/2014/main" id="{FED57607-56F6-9FD5-F0A8-DE0BCFE89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6459" flipH="1">
            <a:off x="2282032" y="1589693"/>
            <a:ext cx="970220" cy="22361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72" y="978408"/>
            <a:ext cx="4974336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EF26CDF-94D4-BA22-7D14-8D3289040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1072" y="2322576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0017BF0C-B2B7-932F-A9AE-5BFAE4AB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612" y="2770632"/>
            <a:ext cx="5065776" cy="1554480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DEAB8B47-DF86-7C9F-F027-2D4D22B2E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9612" y="4361688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9612" y="4791456"/>
            <a:ext cx="5065776" cy="1408176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8" name="Picture 37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5B08C513-7071-2499-7E9D-CFD5A027C0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083" y="2260473"/>
            <a:ext cx="1245309" cy="2314810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D46E6E9-39FE-B605-0786-F7F7E656F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8546F5-5752-9595-980A-9978EC65B179}"/>
              </a:ext>
            </a:extLst>
          </p:cNvPr>
          <p:cNvSpPr/>
          <p:nvPr userDrawn="1"/>
        </p:nvSpPr>
        <p:spPr>
          <a:xfrm>
            <a:off x="491679" y="319214"/>
            <a:ext cx="11208641" cy="5857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8B1DFD-B7E9-D65B-0A47-8D442617B0D0}"/>
              </a:ext>
            </a:extLst>
          </p:cNvPr>
          <p:cNvCxnSpPr>
            <a:cxnSpLocks/>
          </p:cNvCxnSpPr>
          <p:nvPr userDrawn="1"/>
        </p:nvCxnSpPr>
        <p:spPr>
          <a:xfrm>
            <a:off x="837235" y="1767119"/>
            <a:ext cx="1051656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4190CCC3-E5E8-9E96-318B-F3F62E2328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58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4712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712" y="2629116"/>
            <a:ext cx="3200400" cy="3320861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8848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270D939-D128-D431-82CE-9C15D5A7A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09560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AAE69C6-BB37-BC70-8424-BC928D19C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09560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08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fabric&#10;&#10;Description automatically generated">
            <a:extLst>
              <a:ext uri="{FF2B5EF4-FFF2-40B4-BE49-F238E27FC236}">
                <a16:creationId xmlns:a16="http://schemas.microsoft.com/office/drawing/2014/main" id="{E0606CB6-3E28-F128-51B5-3786D7404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4BBC1B-7DD9-DA00-15CC-B446DA472005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C88A03B2-8C41-A023-CB90-5F79A1F01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pic>
        <p:nvPicPr>
          <p:cNvPr id="10" name="Picture 9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9EA6110C-517A-C447-DB03-9A264F112F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09" y="1695833"/>
            <a:ext cx="1155700" cy="4318000"/>
          </a:xfrm>
          <a:prstGeom prst="rect">
            <a:avLst/>
          </a:prstGeom>
        </p:spPr>
      </p:pic>
      <p:pic>
        <p:nvPicPr>
          <p:cNvPr id="12" name="Picture 11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DC4249CD-2B45-A435-5B21-CFA70421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49" y="381916"/>
            <a:ext cx="1155700" cy="431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7568A0-F819-551E-4780-20A651246990}"/>
              </a:ext>
            </a:extLst>
          </p:cNvPr>
          <p:cNvSpPr/>
          <p:nvPr userDrawn="1"/>
        </p:nvSpPr>
        <p:spPr>
          <a:xfrm>
            <a:off x="1024128" y="2162946"/>
            <a:ext cx="3794760" cy="2536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11D903-56F9-B09B-0443-A76786804823}"/>
              </a:ext>
            </a:extLst>
          </p:cNvPr>
          <p:cNvSpPr/>
          <p:nvPr userDrawn="1"/>
        </p:nvSpPr>
        <p:spPr>
          <a:xfrm>
            <a:off x="1131655" y="2264499"/>
            <a:ext cx="3585549" cy="23354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91551-9B41-0ACF-0BE6-9D174E69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84" y="2889504"/>
            <a:ext cx="2852928" cy="108813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5D3FB1-678F-0A9A-CCB6-435CE57DA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312" y="2011680"/>
            <a:ext cx="2999232" cy="2843784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l">
              <a:lnSpc>
                <a:spcPct val="150000"/>
              </a:lnSpc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82466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362110-9E75-C1E6-F3D3-769A27CB658B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61109-4A99-6337-9E7D-6AE0370E2A33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3B4663F-72DF-CD37-DE9D-C35DFB37E8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48BE494-2D3C-A618-4422-6EA94969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B248-9F11-0A11-E6AF-776D371E1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EFD48A-F270-E4EE-7C35-F4304F3DD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7DEB86-4C56-EB31-FEEE-EC8AA99FB456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19EDA-96E7-C255-DFF9-F36A187EBACD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FAD938FE-3B63-4832-B610-64346C069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38128B-385C-B928-A4A8-BD98929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80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9" r:id="rId3"/>
    <p:sldLayoutId id="2147483651" r:id="rId4"/>
    <p:sldLayoutId id="2147483650" r:id="rId5"/>
    <p:sldLayoutId id="2147483663" r:id="rId6"/>
    <p:sldLayoutId id="2147483665" r:id="rId7"/>
    <p:sldLayoutId id="2147483660" r:id="rId8"/>
    <p:sldLayoutId id="2147483661" r:id="rId9"/>
    <p:sldLayoutId id="2147483662" r:id="rId10"/>
    <p:sldLayoutId id="2147483666" r:id="rId11"/>
    <p:sldLayoutId id="2147483653" r:id="rId12"/>
    <p:sldLayoutId id="2147483664" r:id="rId13"/>
    <p:sldLayoutId id="2147483667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73292A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180B-35BA-C28E-820F-59C84FBDD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5106" y="2311482"/>
            <a:ext cx="4981787" cy="2829464"/>
          </a:xfrm>
        </p:spPr>
        <p:txBody>
          <a:bodyPr/>
          <a:lstStyle/>
          <a:p>
            <a:r>
              <a:rPr lang="en-US" dirty="0"/>
              <a:t>Aadhar Card Management System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800" dirty="0"/>
              <a:t>K23HC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260E8-21BF-1371-4767-5E86248A7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5395" y="3726214"/>
            <a:ext cx="2999232" cy="37133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NIMBA SUMEETH SINGH​</a:t>
            </a:r>
          </a:p>
        </p:txBody>
      </p:sp>
    </p:spTree>
    <p:extLst>
      <p:ext uri="{BB962C8B-B14F-4D97-AF65-F5344CB8AC3E}">
        <p14:creationId xmlns:p14="http://schemas.microsoft.com/office/powerpoint/2010/main" val="31771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77"/>
                <a:cs typeface="Calibri Light"/>
              </a:rPr>
              <a:t>Agenda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0AC0D-F624-B281-1AB5-687E5F6B32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pic>
        <p:nvPicPr>
          <p:cNvPr id="10" name="Picture 9" descr="Floral leaf accent">
            <a:extLst>
              <a:ext uri="{FF2B5EF4-FFF2-40B4-BE49-F238E27FC236}">
                <a16:creationId xmlns:a16="http://schemas.microsoft.com/office/drawing/2014/main" id="{08A3395B-5659-47E4-8F54-71340961F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1633" flipH="1">
            <a:off x="1654192" y="3058939"/>
            <a:ext cx="1243661" cy="790090"/>
          </a:xfrm>
          <a:prstGeom prst="rect">
            <a:avLst/>
          </a:prstGeom>
        </p:spPr>
      </p:pic>
      <p:pic>
        <p:nvPicPr>
          <p:cNvPr id="1929" name="Picture 1928" descr="Floral leaf accent">
            <a:extLst>
              <a:ext uri="{FF2B5EF4-FFF2-40B4-BE49-F238E27FC236}">
                <a16:creationId xmlns:a16="http://schemas.microsoft.com/office/drawing/2014/main" id="{CF8E7A1B-4724-55CB-6FAD-D8E756293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260" y="2342954"/>
            <a:ext cx="1791038" cy="20336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accent3"/>
                </a:solidFill>
                <a:latin typeface="Gill Sans Nova Light" panose="020B0302020104020203" pitchFamily="34" charset="0"/>
                <a:cs typeface="Gill Sans Light" panose="020B0302020104020203" pitchFamily="34" charset="-79"/>
              </a:rPr>
              <a:t>Introduction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ill Sans Nova Light" panose="020B0302020104020203" pitchFamily="34" charset="0"/>
                <a:cs typeface="Gill Sans Light" panose="020B0302020104020203" pitchFamily="34" charset="-79"/>
              </a:rPr>
              <a:t>System Overview</a:t>
            </a:r>
            <a:endParaRPr lang="en-US" sz="240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ill Sans Nova Light" panose="020B0302020104020203" pitchFamily="34" charset="0"/>
                <a:cs typeface="Gill Sans Light" panose="020B0302020104020203" pitchFamily="34" charset="-79"/>
              </a:rPr>
              <a:t>System Architecture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ill Sans Nova Light" panose="020B0302020104020203" pitchFamily="34" charset="0"/>
                <a:cs typeface="Gill Sans Light" panose="020B0302020104020203" pitchFamily="34" charset="-79"/>
              </a:rPr>
              <a:t>Non-Functional Requirements</a:t>
            </a:r>
            <a:endParaRPr lang="en-US" sz="240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accent3"/>
                </a:solidFill>
                <a:latin typeface="Gill Sans Nova Light" panose="020B0302020104020203" pitchFamily="34" charset="0"/>
                <a:cs typeface="Gill Sans Light" panose="020B0302020104020203" pitchFamily="34" charset="-79"/>
              </a:rPr>
              <a:t>Summary</a:t>
            </a:r>
          </a:p>
          <a:p>
            <a:endParaRPr lang="en-US" dirty="0">
              <a:solidFill>
                <a:schemeClr val="accent3"/>
              </a:solidFill>
              <a:latin typeface="Gill Sans Nova Light" panose="020B0302020104020203" pitchFamily="34" charset="0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84A3-BD82-0FC6-A582-54DD17DB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527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2655-34DF-25F9-4640-B2CE5329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097597"/>
            <a:ext cx="8695944" cy="82232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85715-2793-160B-269E-D9516C84D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516" y="1761068"/>
            <a:ext cx="7744968" cy="3177012"/>
          </a:xfrm>
        </p:spPr>
        <p:txBody>
          <a:bodyPr/>
          <a:lstStyle/>
          <a:p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Aadhar Card Management System is a crucial component of India's national identity infrastructure, aiming to efficiently manage the issuance, updating, and verification of Aadhar cards for citizens.</a:t>
            </a:r>
          </a:p>
          <a:p>
            <a:r>
              <a:rPr lang="en-US" sz="24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T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his project encompasses the design and implementation of a robust system capable of securely handling Aadhar card-related operations, ensuring data integrity, confidentiality, and accessibility.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8060B-6C9E-CFFF-55DE-F0D645C094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99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135" y="1192784"/>
            <a:ext cx="9884664" cy="1016000"/>
          </a:xfrm>
        </p:spPr>
        <p:txBody>
          <a:bodyPr/>
          <a:lstStyle/>
          <a:p>
            <a:r>
              <a:rPr lang="en-US" dirty="0"/>
              <a:t>Purpose Of The SRS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3668" y="3759200"/>
            <a:ext cx="9884664" cy="1398016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This document is to clearly outline the functional and non-functional requirements of the Aadhar Card Management System, serving as a comprehensive guide for system design, development, and testing.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C4AE-C2C4-A814-CC59-BD002AEF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Baskerville Old Face" panose="02020602080505020303" pitchFamily="18" charset="77"/>
              </a:rPr>
              <a:t>System Overview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77"/>
              </a:rPr>
              <a:t> 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CEE5A-421C-AB04-0186-6EC7880701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7797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C7E70-247B-DAF3-59E9-592F1234B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94000"/>
            <a:ext cx="10515600" cy="3285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D0D0D"/>
                </a:solidFill>
                <a:latin typeface="Söhne"/>
              </a:rPr>
              <a:t>A</a:t>
            </a:r>
            <a:r>
              <a:rPr lang="en-IN" b="1" dirty="0" err="1">
                <a:solidFill>
                  <a:srgbClr val="0D0D0D"/>
                </a:solidFill>
                <a:latin typeface="Söhne"/>
              </a:rPr>
              <a:t>adhar</a:t>
            </a:r>
            <a:r>
              <a:rPr lang="en-IN" b="1" dirty="0">
                <a:solidFill>
                  <a:srgbClr val="0D0D0D"/>
                </a:solidFill>
                <a:latin typeface="Söhne"/>
              </a:rPr>
              <a:t> Card Issuance: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D0D0D"/>
                </a:solidFill>
                <a:latin typeface="Söhne"/>
              </a:rPr>
              <a:t>Facilitates the registration and issuance of Aadhar cards to eligible individuals.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D0D0D"/>
                </a:solidFill>
                <a:latin typeface="Söhne"/>
              </a:rPr>
              <a:t>Captures demographic and biometric information for </a:t>
            </a:r>
            <a:r>
              <a:rPr lang="en-IN" sz="2400" dirty="0" err="1">
                <a:solidFill>
                  <a:srgbClr val="0D0D0D"/>
                </a:solidFill>
                <a:latin typeface="Söhne"/>
              </a:rPr>
              <a:t>indentity</a:t>
            </a:r>
            <a:r>
              <a:rPr lang="en-IN" sz="2400" dirty="0">
                <a:solidFill>
                  <a:srgbClr val="0D0D0D"/>
                </a:solidFill>
                <a:latin typeface="Söhne"/>
              </a:rPr>
              <a:t> verification.</a:t>
            </a:r>
          </a:p>
          <a:p>
            <a:pPr marL="0" indent="0">
              <a:buNone/>
            </a:pPr>
            <a:endParaRPr lang="en-IN" sz="2400" dirty="0">
              <a:solidFill>
                <a:srgbClr val="0D0D0D"/>
              </a:solidFill>
              <a:latin typeface="Söhne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D0D0D"/>
                </a:solidFill>
                <a:latin typeface="Söhne"/>
              </a:rPr>
              <a:t>Aadhar Card Update: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D0D0D"/>
                </a:solidFill>
                <a:latin typeface="Söhne"/>
              </a:rPr>
              <a:t>Allows citizens to update their Aadhar card details such as address, phone number, etc..,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0623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D70B9-0C27-BA0A-5AB3-043F2762F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95300"/>
            <a:ext cx="10972800" cy="58674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Söhne"/>
              </a:rPr>
              <a:t>Aadhar Card Verification:</a:t>
            </a:r>
            <a:endParaRPr lang="en-US" dirty="0"/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Provides a secure mechanism for verifying Aadhar card details.</a:t>
            </a: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Enables authentication of individuals for various services and transactions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Data Security and Privacy:</a:t>
            </a:r>
          </a:p>
          <a:p>
            <a:pPr marL="0" indent="0" algn="l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Söhne"/>
              </a:rPr>
              <a:t>Implements robust security measures to safeguard sensitive Aadhar card data.</a:t>
            </a:r>
          </a:p>
          <a:p>
            <a:pPr marL="0" indent="0" algn="l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Söhne"/>
              </a:rPr>
              <a:t>Adheres to government regulations and standards to ensure data privacy and confidentiality.</a:t>
            </a:r>
          </a:p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Söhne"/>
            </a:endParaRPr>
          </a:p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Target Users: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sz="2600" b="0" i="0" dirty="0">
                <a:solidFill>
                  <a:srgbClr val="0D0D0D"/>
                </a:solidFill>
                <a:effectLst/>
                <a:latin typeface="Söhne"/>
              </a:rPr>
              <a:t>The Aadhar Card Management System caters to a diverse range of users, including: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Citizens applying for new Aadhar cards or updating existing ones.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Enrollment agencies responsible for data collection.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Government agencies and authorized entities performing Aadhar card verification.</a:t>
            </a:r>
          </a:p>
          <a:p>
            <a:pPr marL="0" indent="0" algn="l">
              <a:buNone/>
            </a:pPr>
            <a:endParaRPr lang="en-US" sz="2400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38CF2-D6F6-CB50-DEBB-36E413AB5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63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C4AE-C2C4-A814-CC59-BD002AEF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Baskerville Old Face" panose="02020602080505020303" pitchFamily="18" charset="77"/>
              </a:rPr>
              <a:t>System Architecture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77"/>
              </a:rPr>
              <a:t> 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CEE5A-421C-AB04-0186-6EC7880701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7797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251B61-EE29-57CF-CF49-884B673C3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4533"/>
            <a:ext cx="10515600" cy="4060275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Client Interface: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Provides user interfaces for citizens to apply for new Aadhar cards, update their information, and verify Aadhar details.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Supports various channels such as web portals, mobile applications, and enrollment centers.</a:t>
            </a:r>
          </a:p>
          <a:p>
            <a:pPr marL="742950" lvl="1" indent="-285750" algn="l"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Application Layer: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Contains the core business logic and application services responsible for processing Aadhar card-related operations.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Implements functionalities such as data validation, encryption, and communication with external systems.</a:t>
            </a:r>
          </a:p>
          <a:p>
            <a:pPr marL="457200" lvl="1" indent="0" algn="l">
              <a:buNone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058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D70B9-0C27-BA0A-5AB3-043F2762F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4800"/>
            <a:ext cx="10972800" cy="6051550"/>
          </a:xfrm>
        </p:spPr>
        <p:txBody>
          <a:bodyPr>
            <a:normAutofit fontScale="92500"/>
          </a:bodyPr>
          <a:lstStyle/>
          <a:p>
            <a:pPr marL="0" indent="0" algn="l"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Söhne"/>
              </a:rPr>
              <a:t>Database Layer:</a:t>
            </a:r>
            <a:endParaRPr lang="en-IN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D0D0D"/>
                </a:solidFill>
                <a:effectLst/>
                <a:latin typeface="Söhne"/>
              </a:rPr>
              <a:t>Stores Aadhar card data, including demographic information, biometric data, and authentication records.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IN" b="0" i="0" dirty="0">
                <a:solidFill>
                  <a:srgbClr val="0D0D0D"/>
                </a:solidFill>
                <a:effectLst/>
                <a:latin typeface="Söhne"/>
              </a:rPr>
              <a:t>Utilizes a relational database management system (RDBMS) or NoSQL database for efficient data storage and retrieval.</a:t>
            </a:r>
          </a:p>
          <a:p>
            <a:pPr marL="0" indent="0">
              <a:buNone/>
            </a:pPr>
            <a:endParaRPr lang="en-IN" dirty="0"/>
          </a:p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Security Layer: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Enforces security measures to protect Aadhar card data from unauthorized access, tampering, or misuse.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Includes authentication mechanisms, access controls, encryption techniques, and audit trails to ensure data confidentiality and integrity.</a:t>
            </a:r>
          </a:p>
          <a:p>
            <a:pPr marL="0" indent="0">
              <a:buNone/>
            </a:pPr>
            <a:endParaRPr lang="en-IN" dirty="0"/>
          </a:p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Deployment: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 Aadhar Card Management System can be deployed on-premises or in the cloud, depending on organizational requirements and scalability needs.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38CF2-D6F6-CB50-DEBB-36E413AB5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72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6A01-1D8C-E82D-69CE-C1BEA5E03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Non-Functional Requirement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77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8D6E8-969C-81F9-8B97-1B42ED901A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798DD-D326-4544-420D-29FA072DE74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5360" y="2675467"/>
            <a:ext cx="10241280" cy="36808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Response Time:</a:t>
            </a:r>
            <a:r>
              <a:rPr lang="en-US" sz="3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The system should respond to user actions within 3 seconds under normal load conditions.</a:t>
            </a:r>
          </a:p>
          <a:p>
            <a:pPr marL="0" indent="0">
              <a:buNone/>
            </a:pPr>
            <a:r>
              <a:rPr lang="en-US" sz="33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Data Encryption:</a:t>
            </a:r>
            <a:r>
              <a:rPr lang="en-US" sz="3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All communication between the client and server should be encrypted using industry-standard encryption algorithms.</a:t>
            </a:r>
          </a:p>
          <a:p>
            <a:pPr marL="0" indent="0">
              <a:buNone/>
            </a:pPr>
            <a:r>
              <a:rPr lang="en-US" sz="33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Fault Tolerance:</a:t>
            </a:r>
            <a:r>
              <a:rPr lang="en-US" sz="3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The system should be resilient to failures, with mechanisms in place to recover gracefully in the event of hardware or software failures.</a:t>
            </a: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0" indent="0">
              <a:buNone/>
            </a:pPr>
            <a:r>
              <a:rPr lang="en-US" sz="33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Accessibility:</a:t>
            </a:r>
            <a:r>
              <a:rPr lang="en-US" sz="3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The system should comply with accessibility standards (e.g., WCAG) to ensure that users with disabilities can access and use Aadhar card-related services without barriers.</a:t>
            </a:r>
          </a:p>
          <a:p>
            <a:pPr marL="0" indent="0">
              <a:buNone/>
            </a:pP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5889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4519-AA84-8431-D232-586F5C32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0F905-F2AE-C7A0-0536-18FC82DD6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9FF1D-25A6-3AB9-097B-28C4DCE744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5A42896-DA85-DD57-9EBE-C2B6EACE9BB7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109863" y="2570671"/>
            <a:ext cx="5844355" cy="3691208"/>
          </a:xfrm>
        </p:spPr>
      </p:pic>
    </p:spTree>
    <p:extLst>
      <p:ext uri="{BB962C8B-B14F-4D97-AF65-F5344CB8AC3E}">
        <p14:creationId xmlns:p14="http://schemas.microsoft.com/office/powerpoint/2010/main" val="2727253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4157-869F-9BBE-CFCF-717129CA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214" y="1385315"/>
            <a:ext cx="8767572" cy="717635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77"/>
              </a:rPr>
              <a:t>Summary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AC05D-560D-1665-8879-549C0B4ED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516" y="1744133"/>
            <a:ext cx="7744968" cy="3605107"/>
          </a:xfrm>
        </p:spPr>
        <p:txBody>
          <a:bodyPr>
            <a:normAutofit lnSpcReduction="10000"/>
          </a:bodyPr>
          <a:lstStyle/>
          <a:p>
            <a:pPr algn="l"/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Collaborate closely with stakeholders, development teams, and end-users to ensure alignment with project objectives and user needs throughout the project lifecycle.</a:t>
            </a:r>
          </a:p>
          <a:p>
            <a:pPr algn="l"/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Regularly review and update the SRS document as needed to reflect any changes or enhancements to the system requirements based on evolving business requirements or feedback from stakeholders.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chemeClr val="accent3"/>
              </a:solidFill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26A48-6EF8-D4D0-2C6E-1F96935EA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700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B5DC-8C2B-5750-6E12-9A35C0FFB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F5CF3F-E5EF-5769-3F83-24ADB4412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0" y="2164080"/>
            <a:ext cx="3895344" cy="2843784"/>
          </a:xfrm>
        </p:spPr>
        <p:txBody>
          <a:bodyPr>
            <a:normAutofit/>
          </a:bodyPr>
          <a:lstStyle/>
          <a:p>
            <a:r>
              <a:rPr lang="en-US" dirty="0"/>
              <a:t>NIMBA SUMEETH SINGH</a:t>
            </a:r>
          </a:p>
          <a:p>
            <a:r>
              <a:rPr lang="en-US" dirty="0"/>
              <a:t>LOVELY PROFESSIONAL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2790251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-Flourish_Win32_CP_v8" id="{BCFB3359-BC8B-4F4E-99DD-822A55018E7C}" vid="{7DF7CEC2-9D9A-40F6-95E4-E2F6E93D64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4EFF02-EA18-493C-972D-813DB244CB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BB2F3B-6257-41BB-8B64-5AC7494F27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ACE2AAA-C718-435C-B4E6-95A08ACAC44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{94BF8A6A-E883-4CFF-99C1-A128BA9924D2}tf56410444_win32</Template>
  <TotalTime>86</TotalTime>
  <Words>617</Words>
  <Application>Microsoft Office PowerPoint</Application>
  <PresentationFormat>Widescreen</PresentationFormat>
  <Paragraphs>78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Baskerville</vt:lpstr>
      <vt:lpstr>Baskerville Old Face</vt:lpstr>
      <vt:lpstr>Calibri</vt:lpstr>
      <vt:lpstr>Gill Sans Light</vt:lpstr>
      <vt:lpstr>Gill Sans Nova</vt:lpstr>
      <vt:lpstr>Gill Sans Nova Light</vt:lpstr>
      <vt:lpstr>Söhne</vt:lpstr>
      <vt:lpstr>Office Theme</vt:lpstr>
      <vt:lpstr>Aadhar Card Management System   K23HC</vt:lpstr>
      <vt:lpstr>Agenda</vt:lpstr>
      <vt:lpstr>Introduction</vt:lpstr>
      <vt:lpstr>Purpose Of The SRS</vt:lpstr>
      <vt:lpstr>System Overview </vt:lpstr>
      <vt:lpstr>PowerPoint Presentation</vt:lpstr>
      <vt:lpstr>System Architecture </vt:lpstr>
      <vt:lpstr>PowerPoint Presentation</vt:lpstr>
      <vt:lpstr>Non-Functional Requirement </vt:lpstr>
      <vt:lpstr>FLOW CHART</vt:lpstr>
      <vt:lpstr>Summary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Aadhar Card Management System   K23HC</dc:title>
  <dc:creator>nsumeeth.123singh@outlook.com</dc:creator>
  <cp:lastModifiedBy>nsumeeth.123singh@outlook.com</cp:lastModifiedBy>
  <cp:revision>2</cp:revision>
  <dcterms:created xsi:type="dcterms:W3CDTF">2024-04-08T02:52:03Z</dcterms:created>
  <dcterms:modified xsi:type="dcterms:W3CDTF">2024-04-08T04:18:20Z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